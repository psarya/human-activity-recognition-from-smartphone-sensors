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D78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787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5C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E964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SVM</c:v>
                  </c:pt>
                  <c:pt idx="1">
                    <c:v>Random Forest</c:v>
                  </c:pt>
                  <c:pt idx="2">
                    <c:v>LSTM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90.06</c:v>
                </c:pt>
                <c:pt idx="1">
                  <c:v>85.95</c:v>
                </c:pt>
                <c:pt idx="2">
                  <c:v>95.15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1D7874">
              <a:alpha val="40000"/>
            </a:srgbClr>
          </a:solidFill>
          <a:ln w="12700">
            <a:solidFill>
              <a:srgbClr val="1D78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274320"/>
            <a:ext cx="1371600" cy="1371600"/>
          </a:xfrm>
          <a:prstGeom prst="ellipse">
            <a:avLst/>
          </a:prstGeom>
          <a:solidFill>
            <a:srgbClr val="EE964B">
              <a:alpha val="50000"/>
            </a:srgbClr>
          </a:solidFill>
          <a:ln w="12700">
            <a:solidFill>
              <a:srgbClr val="EE964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D1F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Smartphone Sensor Data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400800" cy="4572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SVM • Random Forest • LSTM  |  Deployed via Streamlit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Suku (253007)  •  Arjun S (253105)  •  Ardra Selin A G (253006)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80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UCI HAR Dataset  •  Kaggle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52728"/>
            <a:ext cx="256032" cy="256032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52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carry accelerometers &amp; gyroscopes that generate continuous motion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75688"/>
            <a:ext cx="256032" cy="256032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75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raw sensor streams into accurate activity classifications is a core ML challenge.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898648"/>
            <a:ext cx="256032" cy="256032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98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has vital applications in healthcare monitoring, fitness tracking, and smart environments.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721608"/>
            <a:ext cx="256032" cy="256032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721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classifies 6 activities — Walking, Sitting, Standing, Running, Stair Up/Down.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097280"/>
            <a:ext cx="3017520" cy="347472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097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964B"/>
                </a:solidFill>
              </a:rPr>
              <a:t>Activities Classified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1664208"/>
            <a:ext cx="2743200" cy="384048"/>
          </a:xfrm>
          <a:prstGeom prst="rect">
            <a:avLst/>
          </a:prstGeom>
          <a:solidFill>
            <a:srgbClr val="1D7874">
              <a:alpha val="70000"/>
            </a:srgbClr>
          </a:solidFill>
          <a:ln w="12700">
            <a:solidFill>
              <a:srgbClr val="1D7874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🚶 WALKING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2139696"/>
            <a:ext cx="2743200" cy="384048"/>
          </a:xfrm>
          <a:prstGeom prst="rect">
            <a:avLst/>
          </a:prstGeom>
          <a:solidFill>
            <a:srgbClr val="1D7874">
              <a:alpha val="70000"/>
            </a:srgbClr>
          </a:solidFill>
          <a:ln w="12700">
            <a:solidFill>
              <a:srgbClr val="1D7874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13969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⬆️ WALKING UPSTAIRS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2615184"/>
            <a:ext cx="2743200" cy="384048"/>
          </a:xfrm>
          <a:prstGeom prst="rect">
            <a:avLst/>
          </a:prstGeom>
          <a:solidFill>
            <a:srgbClr val="1D7874">
              <a:alpha val="70000"/>
            </a:srgbClr>
          </a:solidFill>
          <a:ln w="12700">
            <a:solidFill>
              <a:srgbClr val="1D7874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26151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⬇️ WALKING DOWNSTAIRS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3090672"/>
            <a:ext cx="2743200" cy="384048"/>
          </a:xfrm>
          <a:prstGeom prst="rect">
            <a:avLst/>
          </a:prstGeom>
          <a:solidFill>
            <a:srgbClr val="1D7874">
              <a:alpha val="70000"/>
            </a:srgbClr>
          </a:solidFill>
          <a:ln w="12700">
            <a:solidFill>
              <a:srgbClr val="1D7874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090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🪑 SITTING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3566160"/>
            <a:ext cx="2743200" cy="384048"/>
          </a:xfrm>
          <a:prstGeom prst="rect">
            <a:avLst/>
          </a:prstGeom>
          <a:solidFill>
            <a:srgbClr val="1D7874">
              <a:alpha val="70000"/>
            </a:srgbClr>
          </a:solidFill>
          <a:ln w="12700">
            <a:solidFill>
              <a:srgbClr val="1D7874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566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🧍 STANDING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4041648"/>
            <a:ext cx="2743200" cy="384048"/>
          </a:xfrm>
          <a:prstGeom prst="rect">
            <a:avLst/>
          </a:prstGeom>
          <a:solidFill>
            <a:srgbClr val="1D7874">
              <a:alpha val="70000"/>
            </a:srgbClr>
          </a:solidFill>
          <a:ln w="12700">
            <a:solidFill>
              <a:srgbClr val="1D7874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4041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🛌 LAYING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</a:rPr>
              <a:t>📊  Classify Activities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Accurately classify 6 human activities using 561 sensor features from accelerometer &amp; gyroscope.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</a:rPr>
              <a:t>🔍  Exploratory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356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Perform comprehensive EDA — activity distributions, correlation heatmaps, feature patterns.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</a:rPr>
              <a:t>⚙️  Feature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8986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Select top 50 features using SelectKBest (f_classif) to reduce dimensionality while preserving accuracy.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514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</a:rPr>
              <a:t>🤖  Build &amp; Compare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986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 SVM, Random Forest, and LSTM models. Identify the best performer across all metrics.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0233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</a:rPr>
              <a:t>🚀  Deploy Application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3616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Deploy the best model as an interactive Streamlit app with real-time prediction and explainability.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291840" cy="77724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64B"/>
                </a:solidFill>
              </a:rPr>
              <a:t>561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36576" cy="59436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97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Total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3291840" cy="77724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0574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64B"/>
                </a:solidFill>
              </a:rPr>
              <a:t>6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371600" y="2148840"/>
            <a:ext cx="36576" cy="59436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057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Activity Classes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3291840" cy="77724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0175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64B"/>
                </a:solidFill>
              </a:rPr>
              <a:t>UCI HAR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371600" y="3108960"/>
            <a:ext cx="36576" cy="59436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Source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3291840" cy="77724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9776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64B"/>
                </a:solidFill>
              </a:rPr>
              <a:t>Kaggle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371600" y="4069080"/>
            <a:ext cx="36576" cy="59436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9776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Platform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31920" y="1005840"/>
            <a:ext cx="493776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66"/>
                </a:solidFill>
              </a:rPr>
              <a:t>Feature Sources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0" y="16002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✦  Accelerometer signals (body + gravity)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20116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✦  Gyroscope signals (angular velocity)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24231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✦  Time-domain statistical features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28346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✦  Frequency-domain (FFT) features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32461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✦  Mean, std, max, min, energy, entropy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31920" y="3383280"/>
            <a:ext cx="4937760" cy="4572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Dataset URL: kaggle.com/datasets/uciml/human-activity-recognition-with-smartphones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554480" cy="3840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43000"/>
            <a:ext cx="548640" cy="548640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964B"/>
                </a:solidFill>
              </a:rPr>
              <a:t>Data Preprocessing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04288"/>
            <a:ext cx="1280160" cy="27432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42316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Remove subject ID columns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" y="295351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Handle missing values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34838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LabelEncoder for activities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" y="401421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StandardScaler normalization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37360" y="2926080"/>
            <a:ext cx="228600" cy="4572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283464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964B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1051560"/>
            <a:ext cx="1554480" cy="3840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143000"/>
            <a:ext cx="548640" cy="548640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964B"/>
                </a:solidFill>
              </a:rPr>
              <a:t>EDA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2304288"/>
            <a:ext cx="1280160" cy="27432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242316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Activity distribution plots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39112" y="295351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Correlation heatmaps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39112" y="34838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Feature relationship analysis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39112" y="401421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Pattern identification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20440" y="2926080"/>
            <a:ext cx="228600" cy="4572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283464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964B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051560"/>
            <a:ext cx="1554480" cy="3840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1143000"/>
            <a:ext cx="548640" cy="548640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964B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86200" y="2304288"/>
            <a:ext cx="1280160" cy="27432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242316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SelectKBest with f_classif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22192" y="295351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Top 50 features selected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22192" y="34838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Dimensionality reduction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22192" y="401421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Performance maintained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03520" y="2926080"/>
            <a:ext cx="228600" cy="4572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283464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964B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32120" y="1051560"/>
            <a:ext cx="1554480" cy="3840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1143000"/>
            <a:ext cx="548640" cy="548640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</a:rPr>
              <a:t>04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964B"/>
                </a:solidFill>
              </a:rPr>
              <a:t>Model Building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0" y="2304288"/>
            <a:ext cx="1280160" cy="27432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05272" y="242316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Support Vector Machine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05272" y="295351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Random Forest Classifier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05272" y="34838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LSTM Deep Network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05272" y="401421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Hyperparameter tuning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086600" y="2926080"/>
            <a:ext cx="228600" cy="4572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51192" y="283464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964B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0" y="1051560"/>
            <a:ext cx="1554480" cy="3840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818120" y="1143000"/>
            <a:ext cx="548640" cy="548640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</a:rPr>
              <a:t>05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964B"/>
                </a:solidFill>
              </a:rPr>
              <a:t>Evaluation &amp; Deploy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52360" y="2304288"/>
            <a:ext cx="1280160" cy="27432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242316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Accuracy / F1 / Precision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88352" y="295351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Confusion Matrix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388352" y="34838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Streamlit deployment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88352" y="401421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• Real-time predictions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— SVM &amp; Random Forest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Support Vector Machine (SVM)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7874"/>
                </a:solidFill>
              </a:rPr>
              <a:t>90.06%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212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Weighted avg F1-Score: 0.90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809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100% precision on LAYING class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Excellent on WALKING activity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RBF kernel, feature-scaled input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242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Strong generalization 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02336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solidFill>
            <a:srgbClr val="1D5C6E"/>
          </a:solidFill>
          <a:ln w="12700">
            <a:solidFill>
              <a:srgbClr val="1D5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 Classifier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5C6E"/>
                </a:solidFill>
              </a:rPr>
              <a:t>85.95%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46320" y="2212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Weighted avg F1-Score: 0.86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9809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High precision on LAYING &amp; WALKING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401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Ensemble model, less prone to overfit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Provides feature importances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242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Interpretability advantage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LSTM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926080" cy="2926080"/>
          </a:xfrm>
          <a:prstGeom prst="ellipse">
            <a:avLst/>
          </a:prstGeom>
          <a:solidFill>
            <a:srgbClr val="1D7874">
              <a:alpha val="80000"/>
            </a:srgbClr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E964B"/>
                </a:solidFill>
              </a:rPr>
              <a:t>95.15%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964B"/>
                </a:solidFill>
              </a:rPr>
              <a:t>🏆 Best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005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964B"/>
                </a:solidFill>
              </a:rPr>
              <a:t>Why LSTM Excels for HAR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6160" y="1508760"/>
            <a:ext cx="292608" cy="292608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508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14904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Captures temporal dependencies in sensor time-series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66160" y="2103120"/>
            <a:ext cx="292608" cy="292608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20848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Memory cells retain activity context across time windows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66160" y="2697480"/>
            <a:ext cx="292608" cy="292608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2679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Weighted avg F1-Score of 0.95 across all 6 classes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66160" y="3291840"/>
            <a:ext cx="292608" cy="292608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291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77640" y="32735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Top accuracy across every individual activity class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66160" y="3886200"/>
            <a:ext cx="292608" cy="292608"/>
          </a:xfrm>
          <a:prstGeom prst="ellipse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7640" y="3867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Deep learning advantage over hand-crafted feature models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66160" y="4434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Architecture: Input → LSTM Layers → Dense → Softmax (6 classes)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3017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66"/>
                </a:solidFill>
              </a:rPr>
              <a:t>Metrics Summary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70448" y="1508760"/>
            <a:ext cx="2980944" cy="548640"/>
          </a:xfrm>
          <a:prstGeom prst="rect">
            <a:avLst/>
          </a:prstGeom>
          <a:solidFill>
            <a:srgbClr val="CBD5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Model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76288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Acc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73568" y="150876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F1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70448" y="2130552"/>
            <a:ext cx="2980944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213055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SVM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76288" y="213055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90.06%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73568" y="2130552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0.90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70448" y="2752344"/>
            <a:ext cx="2980944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275234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85.95%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73568" y="2752344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0.86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70448" y="3374136"/>
            <a:ext cx="2980944" cy="548640"/>
          </a:xfrm>
          <a:prstGeom prst="rect">
            <a:avLst/>
          </a:prstGeom>
          <a:solidFill>
            <a:srgbClr val="D1F0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70448" y="337413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</a:rPr>
              <a:t>LSTM ★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76288" y="337413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</a:rPr>
              <a:t>95.15%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973568" y="3374136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6"/>
                </a:solidFill>
              </a:rPr>
              <a:t>0.95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52160" y="4206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D7874"/>
                </a:solidFill>
              </a:rPr>
              <a:t>★ Best Model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07592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</a:rPr>
              <a:t>File Upload &amp; Predict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904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Upload a CSV of sensor data and get batch activity predictions instantly.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307592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🎛️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</a:rPr>
              <a:t>Manual Feature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4904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interactive sliders to input features manually for single-sample prediction.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87752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423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</a:rPr>
              <a:t>Real-time Probability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7706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Visualize prediction confidence for each activity class interactively.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587752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423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</a:rPr>
              <a:t>Model Explainability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7706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View feature importance charts and confusion matrices per model.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67912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703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</a:rPr>
              <a:t>Model Comparison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050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Switch between SVM, Random Forest, and LSTM to compare outputs live.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867912"/>
            <a:ext cx="502920" cy="50292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2120" y="3703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6"/>
                </a:solidFill>
              </a:rPr>
              <a:t>Live Application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4050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Deployed via ngrok. Accessible from any browser, no install needed.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D7874">
              <a:alpha val="30000"/>
            </a:srgbClr>
          </a:solidFill>
          <a:ln w="12700">
            <a:solidFill>
              <a:srgbClr val="1D787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2743200" cy="2743200"/>
          </a:xfrm>
          <a:prstGeom prst="ellipse">
            <a:avLst/>
          </a:prstGeom>
          <a:solidFill>
            <a:srgbClr val="EE964B">
              <a:alpha val="30000"/>
            </a:srgbClr>
          </a:solidFill>
          <a:ln w="12700">
            <a:solidFill>
              <a:srgbClr val="EE964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0" cy="4572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" cy="41148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Successfully developed a complete HAR pipeline classifying 6 smartphone-sensor activities.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6576" cy="41148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LSTM outperformed with 95.15% accuracy, leveraging temporal patterns in sensor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36576" cy="41148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8716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SVM and Random Forest achieved 90.06% and 85.95%, offering interpretability benefits.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36576" cy="41148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4553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Streamlit app enables real-time prediction, explainability, and model comparison.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36576" cy="411480"/>
          </a:xfrm>
          <a:prstGeom prst="rect">
            <a:avLst/>
          </a:prstGeom>
          <a:solidFill>
            <a:srgbClr val="EE964B"/>
          </a:solidFill>
          <a:ln w="12700">
            <a:solidFill>
              <a:srgbClr val="EE96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03904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project from raw data to deployed application — a full ML lifecycle.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Arya Suku • Arjun S • Ardra Selin A G  |  github.com/psarya/Human-Activity-Recognition-from-Smartphone-Sensors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Activity Recognition from Smartphone Sensors</dc:title>
  <dc:subject>PptxGenJS Presentation</dc:subject>
  <dc:creator>PptxGenJS</dc:creator>
  <cp:lastModifiedBy>PptxGenJS</cp:lastModifiedBy>
  <cp:revision>1</cp:revision>
  <dcterms:created xsi:type="dcterms:W3CDTF">2026-05-14T06:05:14Z</dcterms:created>
  <dcterms:modified xsi:type="dcterms:W3CDTF">2026-05-14T06:05:14Z</dcterms:modified>
</cp:coreProperties>
</file>