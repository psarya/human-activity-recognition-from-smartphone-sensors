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E293B"/>
                </a:solidFill>
                <a:latin typeface="Arial"/>
              </a:defRPr>
            </a:pPr>
            <a:r>
              <a:rPr sz="1400" b="0" i="0" u="none" strike="noStrike">
                <a:solidFill>
                  <a:srgbClr val="1E293B"/>
                </a:solidFill>
                <a:latin typeface="Arial"/>
              </a:rPr>
              <a:t>Model Accuracy Comparison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0A939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A939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E548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E9B00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SVM</c:v>
                  </c:pt>
                  <c:pt idx="1">
                    <c:v>Random Forest</c:v>
                  </c:pt>
                  <c:pt idx="2">
                    <c:v>LSTM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90.06</c:v>
                </c:pt>
                <c:pt idx="1">
                  <c:v>85.95</c:v>
                </c:pt>
                <c:pt idx="2">
                  <c:v>95.15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8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A9396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82880"/>
            <a:ext cx="109728" cy="109728"/>
          </a:xfrm>
          <a:prstGeom prst="ellipse">
            <a:avLst/>
          </a:prstGeom>
          <a:solidFill>
            <a:srgbClr val="0A9396">
              <a:alpha val="50000"/>
            </a:srgbClr>
          </a:solidFill>
          <a:ln w="12700">
            <a:solidFill>
              <a:srgbClr val="0A9396">
                <a:alpha val="5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828800" y="182880"/>
            <a:ext cx="109728" cy="109728"/>
          </a:xfrm>
          <a:prstGeom prst="ellipse">
            <a:avLst/>
          </a:prstGeom>
          <a:solidFill>
            <a:srgbClr val="0A9396">
              <a:alpha val="50000"/>
            </a:srgbClr>
          </a:solidFill>
          <a:ln w="12700">
            <a:solidFill>
              <a:srgbClr val="0A9396">
                <a:alpha val="5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91840" y="182880"/>
            <a:ext cx="109728" cy="109728"/>
          </a:xfrm>
          <a:prstGeom prst="ellipse">
            <a:avLst/>
          </a:prstGeom>
          <a:solidFill>
            <a:srgbClr val="0A9396">
              <a:alpha val="50000"/>
            </a:srgbClr>
          </a:solidFill>
          <a:ln w="12700">
            <a:solidFill>
              <a:srgbClr val="0A9396">
                <a:alpha val="5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0" y="182880"/>
            <a:ext cx="109728" cy="109728"/>
          </a:xfrm>
          <a:prstGeom prst="ellipse">
            <a:avLst/>
          </a:prstGeom>
          <a:solidFill>
            <a:srgbClr val="0A9396">
              <a:alpha val="50000"/>
            </a:srgbClr>
          </a:solidFill>
          <a:ln w="12700">
            <a:solidFill>
              <a:srgbClr val="0A9396">
                <a:alpha val="5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17920" y="182880"/>
            <a:ext cx="109728" cy="109728"/>
          </a:xfrm>
          <a:prstGeom prst="ellipse">
            <a:avLst/>
          </a:prstGeom>
          <a:solidFill>
            <a:srgbClr val="0A9396">
              <a:alpha val="50000"/>
            </a:srgbClr>
          </a:solidFill>
          <a:ln w="12700">
            <a:solidFill>
              <a:srgbClr val="0A9396">
                <a:alpha val="5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680960" y="182880"/>
            <a:ext cx="109728" cy="109728"/>
          </a:xfrm>
          <a:prstGeom prst="ellipse">
            <a:avLst/>
          </a:prstGeom>
          <a:solidFill>
            <a:srgbClr val="0A9396">
              <a:alpha val="50000"/>
            </a:srgbClr>
          </a:solidFill>
          <a:ln w="12700">
            <a:solidFill>
              <a:srgbClr val="0A9396">
                <a:alpha val="5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77724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Activity Recognition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411480" y="150876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94D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Smartphone Sensors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411480" y="2331720"/>
            <a:ext cx="4114800" cy="36576"/>
          </a:xfrm>
          <a:prstGeom prst="rect">
            <a:avLst/>
          </a:prstGeom>
          <a:solidFill>
            <a:srgbClr val="EE9B00"/>
          </a:solidFill>
          <a:ln/>
        </p:spPr>
      </p:sp>
      <p:sp>
        <p:nvSpPr>
          <p:cNvPr id="12" name="Text 10"/>
          <p:cNvSpPr/>
          <p:nvPr/>
        </p:nvSpPr>
        <p:spPr>
          <a:xfrm>
            <a:off x="411480" y="2514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ML-Powered Activity Classification using SVM, Random Forest &amp; LSTM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11480" y="32004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4D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Team: </a:t>
            </a:r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Arya Suku  |  Arjun S  |  Ardra Selin A G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11480" y="3657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4D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</a:t>
            </a:r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UCI HAR Dataset via Kaggle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315200" y="1097280"/>
            <a:ext cx="1371600" cy="1371600"/>
          </a:xfrm>
          <a:prstGeom prst="ellipse">
            <a:avLst/>
          </a:prstGeom>
          <a:solidFill>
            <a:srgbClr val="0A9396">
              <a:alpha val="30000"/>
            </a:srgbClr>
          </a:solidFill>
          <a:ln w="12700">
            <a:solidFill>
              <a:srgbClr val="0A9396">
                <a:alpha val="70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498080" y="1280160"/>
            <a:ext cx="1005840" cy="1005840"/>
          </a:xfrm>
          <a:prstGeom prst="ellipse">
            <a:avLst/>
          </a:prstGeom>
          <a:solidFill>
            <a:srgbClr val="0A9396">
              <a:alpha val="50000"/>
            </a:srgbClr>
          </a:solidFill>
          <a:ln w="12700">
            <a:solidFill>
              <a:srgbClr val="94D2BD">
                <a:alpha val="80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05F73"/>
          </a:solidFill>
          <a:ln/>
        </p:spPr>
      </p:sp>
      <p:sp>
        <p:nvSpPr>
          <p:cNvPr id="18" name="Text 16"/>
          <p:cNvSpPr/>
          <p:nvPr/>
        </p:nvSpPr>
        <p:spPr>
          <a:xfrm>
            <a:off x="274320" y="4864608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D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 psarya/Human-Activity-Recognition-from-Smartphone-Sensors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914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0" y="640080"/>
            <a:ext cx="9144000" cy="64008"/>
          </a:xfrm>
          <a:prstGeom prst="rect">
            <a:avLst/>
          </a:prstGeom>
          <a:solidFill>
            <a:srgbClr val="0A9396"/>
          </a:solidFill>
          <a:ln/>
        </p:spPr>
      </p:sp>
      <p:sp>
        <p:nvSpPr>
          <p:cNvPr id="5" name="Shape 3"/>
          <p:cNvSpPr/>
          <p:nvPr/>
        </p:nvSpPr>
        <p:spPr>
          <a:xfrm>
            <a:off x="274320" y="868680"/>
            <a:ext cx="5303520" cy="3931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005840"/>
            <a:ext cx="54864" cy="320040"/>
          </a:xfrm>
          <a:prstGeom prst="rect">
            <a:avLst/>
          </a:prstGeom>
          <a:solidFill>
            <a:srgbClr val="0A9396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00584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HAR?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" y="1325880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Activity Recognition classifies physical activities (walking, sitting, running, etc.) from smartphone sensor data — critical for healthcare, fitness &amp; smart environments.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2176272"/>
            <a:ext cx="54864" cy="320040"/>
          </a:xfrm>
          <a:prstGeom prst="rect">
            <a:avLst/>
          </a:prstGeom>
          <a:solidFill>
            <a:srgbClr val="0A9396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2176272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Challenge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02920" y="2496312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Converting raw accelerometer &amp; gyroscope signals into accurate activity labels is difficult due to sensor noise, overlapping movements, and temporal dependencies.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65760" y="3346704"/>
            <a:ext cx="54864" cy="320040"/>
          </a:xfrm>
          <a:prstGeom prst="rect">
            <a:avLst/>
          </a:prstGeom>
          <a:solidFill>
            <a:srgbClr val="0A9396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" y="3346704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" y="3666744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robust system to classify 6 human activities using ML models — SVM, Random Forest, and LSTM — following the full data science lifecycle.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852160" y="868680"/>
            <a:ext cx="1463040" cy="822960"/>
          </a:xfrm>
          <a:prstGeom prst="roundRect">
            <a:avLst>
              <a:gd name="adj" fmla="val 8889"/>
            </a:avLst>
          </a:prstGeom>
          <a:solidFill>
            <a:srgbClr val="0A9396"/>
          </a:solidFill>
          <a:ln/>
        </p:spPr>
      </p:sp>
      <p:sp>
        <p:nvSpPr>
          <p:cNvPr id="16" name="Text 14"/>
          <p:cNvSpPr/>
          <p:nvPr/>
        </p:nvSpPr>
        <p:spPr>
          <a:xfrm>
            <a:off x="5852160" y="86868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WALKING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452360" y="868680"/>
            <a:ext cx="1463040" cy="822960"/>
          </a:xfrm>
          <a:prstGeom prst="roundRect">
            <a:avLst>
              <a:gd name="adj" fmla="val 8889"/>
            </a:avLst>
          </a:prstGeom>
          <a:solidFill>
            <a:srgbClr val="005F73"/>
          </a:solidFill>
          <a:ln/>
        </p:spPr>
      </p:sp>
      <p:sp>
        <p:nvSpPr>
          <p:cNvPr id="18" name="Text 16"/>
          <p:cNvSpPr/>
          <p:nvPr/>
        </p:nvSpPr>
        <p:spPr>
          <a:xfrm>
            <a:off x="7452360" y="86868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852160" y="1874520"/>
            <a:ext cx="1463040" cy="822960"/>
          </a:xfrm>
          <a:prstGeom prst="roundRect">
            <a:avLst>
              <a:gd name="adj" fmla="val 8889"/>
            </a:avLst>
          </a:prstGeom>
          <a:solidFill>
            <a:srgbClr val="EE9B00"/>
          </a:solidFill>
          <a:ln/>
        </p:spPr>
      </p:sp>
      <p:sp>
        <p:nvSpPr>
          <p:cNvPr id="20" name="Text 18"/>
          <p:cNvSpPr/>
          <p:nvPr/>
        </p:nvSpPr>
        <p:spPr>
          <a:xfrm>
            <a:off x="5852160" y="187452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SITTING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452360" y="1874520"/>
            <a:ext cx="1463040" cy="822960"/>
          </a:xfrm>
          <a:prstGeom prst="roundRect">
            <a:avLst>
              <a:gd name="adj" fmla="val 8889"/>
            </a:avLst>
          </a:prstGeom>
          <a:solidFill>
            <a:srgbClr val="5E548E"/>
          </a:solidFill>
          <a:ln/>
        </p:spPr>
      </p:sp>
      <p:sp>
        <p:nvSpPr>
          <p:cNvPr id="22" name="Text 20"/>
          <p:cNvSpPr/>
          <p:nvPr/>
        </p:nvSpPr>
        <p:spPr>
          <a:xfrm>
            <a:off x="7452360" y="187452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STANDING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52160" y="2880360"/>
            <a:ext cx="1463040" cy="822960"/>
          </a:xfrm>
          <a:prstGeom prst="roundRect">
            <a:avLst>
              <a:gd name="adj" fmla="val 8889"/>
            </a:avLst>
          </a:prstGeom>
          <a:solidFill>
            <a:srgbClr val="E63946"/>
          </a:solidFill>
          <a:ln/>
        </p:spPr>
      </p:sp>
      <p:sp>
        <p:nvSpPr>
          <p:cNvPr id="24" name="Text 22"/>
          <p:cNvSpPr/>
          <p:nvPr/>
        </p:nvSpPr>
        <p:spPr>
          <a:xfrm>
            <a:off x="5852160" y="288036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UPSTAIRS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452360" y="2880360"/>
            <a:ext cx="1463040" cy="822960"/>
          </a:xfrm>
          <a:prstGeom prst="roundRect">
            <a:avLst>
              <a:gd name="adj" fmla="val 8889"/>
            </a:avLst>
          </a:prstGeom>
          <a:solidFill>
            <a:srgbClr val="457B9D"/>
          </a:solidFill>
          <a:ln/>
        </p:spPr>
      </p:sp>
      <p:sp>
        <p:nvSpPr>
          <p:cNvPr id="26" name="Text 24"/>
          <p:cNvSpPr/>
          <p:nvPr/>
        </p:nvSpPr>
        <p:spPr>
          <a:xfrm>
            <a:off x="7452360" y="288036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DOWNSTAIRS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760720" y="38862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Activity Classes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914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&amp; Features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0" y="640080"/>
            <a:ext cx="9144000" cy="64008"/>
          </a:xfrm>
          <a:prstGeom prst="rect">
            <a:avLst/>
          </a:prstGeom>
          <a:solidFill>
            <a:srgbClr val="0A9396"/>
          </a:solidFill>
          <a:ln/>
        </p:spPr>
      </p:sp>
      <p:sp>
        <p:nvSpPr>
          <p:cNvPr id="5" name="Shape 3"/>
          <p:cNvSpPr/>
          <p:nvPr/>
        </p:nvSpPr>
        <p:spPr>
          <a:xfrm>
            <a:off x="274320" y="868680"/>
            <a:ext cx="1920240" cy="1188720"/>
          </a:xfrm>
          <a:prstGeom prst="rect">
            <a:avLst/>
          </a:prstGeom>
          <a:solidFill>
            <a:srgbClr val="0A9396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74320" y="96012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274320" y="15544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Engineered Features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450592" y="868680"/>
            <a:ext cx="1920240" cy="1188720"/>
          </a:xfrm>
          <a:prstGeom prst="rect">
            <a:avLst/>
          </a:prstGeom>
          <a:solidFill>
            <a:srgbClr val="005F73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450592" y="96012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10,299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2450592" y="15544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Samples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26864" y="868680"/>
            <a:ext cx="1920240" cy="1188720"/>
          </a:xfrm>
          <a:prstGeom prst="rect">
            <a:avLst/>
          </a:prstGeom>
          <a:solidFill>
            <a:srgbClr val="EE9B00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26864" y="96012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4626864" y="15544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Classes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803136" y="868680"/>
            <a:ext cx="1920240" cy="1188720"/>
          </a:xfrm>
          <a:prstGeom prst="rect">
            <a:avLst/>
          </a:prstGeom>
          <a:solidFill>
            <a:srgbClr val="5E548E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803136" y="96012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6803136" y="15544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Types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74320" y="2240280"/>
            <a:ext cx="416052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365760" y="23317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Sources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11480" y="2816352"/>
            <a:ext cx="109728" cy="109728"/>
          </a:xfrm>
          <a:prstGeom prst="ellipse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2761488"/>
            <a:ext cx="3703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Accelerometer signals (linear acceleration)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11480" y="3218688"/>
            <a:ext cx="109728" cy="109728"/>
          </a:xfrm>
          <a:prstGeom prst="ellipse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" y="3163824"/>
            <a:ext cx="3703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Gyroscope signals (angular velocity)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11480" y="3621024"/>
            <a:ext cx="109728" cy="109728"/>
          </a:xfrm>
          <a:prstGeom prst="ellipse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4360" y="3566160"/>
            <a:ext cx="3703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Time-domain statistical features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11480" y="4023360"/>
            <a:ext cx="109728" cy="109728"/>
          </a:xfrm>
          <a:prstGeom prst="ellipse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" y="3968496"/>
            <a:ext cx="3703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Frequency-domain (FFT) features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11480" y="4425696"/>
            <a:ext cx="109728" cy="109728"/>
          </a:xfrm>
          <a:prstGeom prst="ellipse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94360" y="4370832"/>
            <a:ext cx="3703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Jerk &amp; magnitude signals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709160" y="2240280"/>
            <a:ext cx="416052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4800600" y="23317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Details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4846320" y="276148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144768" y="2761488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UCI HAR Dataset (Kaggle)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846320" y="3163824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Size: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144768" y="3163824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7,352 samples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4846320" y="3566160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Size: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144768" y="356616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2,947 samples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846320" y="3968496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Type: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144768" y="3968496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Pre-computed (561 features)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4846320" y="4370832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Features: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144768" y="4370832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selected via SelectKBest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914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&amp; Pipeline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0" y="640080"/>
            <a:ext cx="9144000" cy="64008"/>
          </a:xfrm>
          <a:prstGeom prst="rect">
            <a:avLst/>
          </a:prstGeom>
          <a:solidFill>
            <a:srgbClr val="0A9396"/>
          </a:solidFill>
          <a:ln/>
        </p:spPr>
      </p:sp>
      <p:sp>
        <p:nvSpPr>
          <p:cNvPr id="5" name="Shape 3"/>
          <p:cNvSpPr/>
          <p:nvPr/>
        </p:nvSpPr>
        <p:spPr>
          <a:xfrm>
            <a:off x="274320" y="822960"/>
            <a:ext cx="160020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822960"/>
            <a:ext cx="1600200" cy="457200"/>
          </a:xfrm>
          <a:prstGeom prst="rect">
            <a:avLst/>
          </a:prstGeom>
          <a:solidFill>
            <a:srgbClr val="0A9396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2296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20040" y="132588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Preprocessing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47472" y="1874520"/>
            <a:ext cx="1453896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irrelevant columns, handle missing values, LabelEncoder for activities, StandardScaler for features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1874520" y="1965960"/>
            <a:ext cx="137160" cy="73152"/>
          </a:xfrm>
          <a:prstGeom prst="rect">
            <a:avLst/>
          </a:prstGeom>
          <a:solidFill>
            <a:srgbClr val="0A9396"/>
          </a:solidFill>
          <a:ln/>
        </p:spPr>
      </p:sp>
      <p:sp>
        <p:nvSpPr>
          <p:cNvPr id="11" name="Shape 9"/>
          <p:cNvSpPr/>
          <p:nvPr/>
        </p:nvSpPr>
        <p:spPr>
          <a:xfrm>
            <a:off x="2011680" y="822960"/>
            <a:ext cx="160020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011680" y="822960"/>
            <a:ext cx="1600200" cy="457200"/>
          </a:xfrm>
          <a:prstGeom prst="rect">
            <a:avLst/>
          </a:prstGeom>
          <a:solidFill>
            <a:srgbClr val="005F73"/>
          </a:solidFill>
          <a:ln/>
        </p:spPr>
      </p:sp>
      <p:sp>
        <p:nvSpPr>
          <p:cNvPr id="13" name="Text 11"/>
          <p:cNvSpPr/>
          <p:nvPr/>
        </p:nvSpPr>
        <p:spPr>
          <a:xfrm>
            <a:off x="2011680" y="82296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2057400" y="132588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084832" y="1874520"/>
            <a:ext cx="1453896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distribution plots, correlation heatmaps, feature relationship analysis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611880" y="1965960"/>
            <a:ext cx="137160" cy="73152"/>
          </a:xfrm>
          <a:prstGeom prst="rect">
            <a:avLst/>
          </a:prstGeom>
          <a:solidFill>
            <a:srgbClr val="0A9396"/>
          </a:solidFill>
          <a:ln/>
        </p:spPr>
      </p:sp>
      <p:sp>
        <p:nvSpPr>
          <p:cNvPr id="17" name="Shape 15"/>
          <p:cNvSpPr/>
          <p:nvPr/>
        </p:nvSpPr>
        <p:spPr>
          <a:xfrm>
            <a:off x="3749040" y="822960"/>
            <a:ext cx="160020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749040" y="822960"/>
            <a:ext cx="1600200" cy="457200"/>
          </a:xfrm>
          <a:prstGeom prst="rect">
            <a:avLst/>
          </a:prstGeom>
          <a:solidFill>
            <a:srgbClr val="EE9B00"/>
          </a:solidFill>
          <a:ln/>
        </p:spPr>
      </p:sp>
      <p:sp>
        <p:nvSpPr>
          <p:cNvPr id="19" name="Text 17"/>
          <p:cNvSpPr/>
          <p:nvPr/>
        </p:nvSpPr>
        <p:spPr>
          <a:xfrm>
            <a:off x="3749040" y="82296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3794760" y="132588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E9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822192" y="1874520"/>
            <a:ext cx="1453896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SelectKBest with f_classif to select top 50 features; dimensionality reduction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349240" y="1965960"/>
            <a:ext cx="137160" cy="73152"/>
          </a:xfrm>
          <a:prstGeom prst="rect">
            <a:avLst/>
          </a:prstGeom>
          <a:solidFill>
            <a:srgbClr val="0A9396"/>
          </a:solidFill>
          <a:ln/>
        </p:spPr>
      </p:sp>
      <p:sp>
        <p:nvSpPr>
          <p:cNvPr id="23" name="Shape 21"/>
          <p:cNvSpPr/>
          <p:nvPr/>
        </p:nvSpPr>
        <p:spPr>
          <a:xfrm>
            <a:off x="5486400" y="822960"/>
            <a:ext cx="160020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486400" y="822960"/>
            <a:ext cx="1600200" cy="457200"/>
          </a:xfrm>
          <a:prstGeom prst="rect">
            <a:avLst/>
          </a:prstGeom>
          <a:solidFill>
            <a:srgbClr val="5E548E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0" y="82296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5532120" y="132588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E54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Building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559552" y="1874520"/>
            <a:ext cx="1453896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SVM (linear kernel), Random Forest (ensemble), LSTM (deep learning for sequences)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7086600" y="1965960"/>
            <a:ext cx="137160" cy="73152"/>
          </a:xfrm>
          <a:prstGeom prst="rect">
            <a:avLst/>
          </a:prstGeom>
          <a:solidFill>
            <a:srgbClr val="0A9396"/>
          </a:solidFill>
          <a:ln/>
        </p:spPr>
      </p:sp>
      <p:sp>
        <p:nvSpPr>
          <p:cNvPr id="29" name="Shape 27"/>
          <p:cNvSpPr/>
          <p:nvPr/>
        </p:nvSpPr>
        <p:spPr>
          <a:xfrm>
            <a:off x="7223760" y="822960"/>
            <a:ext cx="160020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223760" y="822960"/>
            <a:ext cx="1600200" cy="45720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31" name="Text 29"/>
          <p:cNvSpPr/>
          <p:nvPr/>
        </p:nvSpPr>
        <p:spPr>
          <a:xfrm>
            <a:off x="7223760" y="82296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7269480" y="132588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296912" y="1874520"/>
            <a:ext cx="1453896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Accuracy, Precision, Recall, F1-score, Confusion Matrix per model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274320" y="4297680"/>
            <a:ext cx="8595360" cy="59436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5" name="Text 33"/>
          <p:cNvSpPr/>
          <p:nvPr/>
        </p:nvSpPr>
        <p:spPr>
          <a:xfrm>
            <a:off x="365760" y="43434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4D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data science lifecycle: Preprocessing → EDA → Feature Engineering → Model Development → Evaluation → Deployment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914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 Models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0" y="640080"/>
            <a:ext cx="9144000" cy="64008"/>
          </a:xfrm>
          <a:prstGeom prst="rect">
            <a:avLst/>
          </a:prstGeom>
          <a:solidFill>
            <a:srgbClr val="0A9396"/>
          </a:solidFill>
          <a:ln/>
        </p:spPr>
      </p:sp>
      <p:sp>
        <p:nvSpPr>
          <p:cNvPr id="5" name="Shape 3"/>
          <p:cNvSpPr/>
          <p:nvPr/>
        </p:nvSpPr>
        <p:spPr>
          <a:xfrm>
            <a:off x="228600" y="822960"/>
            <a:ext cx="2743200" cy="4023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28600" y="822960"/>
            <a:ext cx="2743200" cy="594360"/>
          </a:xfrm>
          <a:prstGeom prst="rect">
            <a:avLst/>
          </a:prstGeom>
          <a:solidFill>
            <a:srgbClr val="0A9396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" y="82296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SVM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20040" y="14630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Vector Machine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02920" y="1920240"/>
            <a:ext cx="2194560" cy="685800"/>
          </a:xfrm>
          <a:prstGeom prst="rect">
            <a:avLst/>
          </a:prstGeom>
          <a:solidFill>
            <a:srgbClr val="0A9396">
              <a:alpha val="12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19202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212848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90.06%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20040" y="27432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F1-Score: 0.90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11480" y="3172968"/>
            <a:ext cx="91440" cy="91440"/>
          </a:xfrm>
          <a:prstGeom prst="ellipse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57784" y="3127248"/>
            <a:ext cx="2286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kernel classification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11480" y="3502152"/>
            <a:ext cx="91440" cy="91440"/>
          </a:xfrm>
          <a:prstGeom prst="ellipse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57784" y="3456432"/>
            <a:ext cx="2286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on high-dimensional data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11480" y="3831336"/>
            <a:ext cx="91440" cy="91440"/>
          </a:xfrm>
          <a:prstGeom prst="ellipse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57784" y="3785616"/>
            <a:ext cx="2286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baseline model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11480" y="4160520"/>
            <a:ext cx="91440" cy="91440"/>
          </a:xfrm>
          <a:prstGeom prst="ellipse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57784" y="4114800"/>
            <a:ext cx="2286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on LAYING &amp; WALKING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154680" y="822960"/>
            <a:ext cx="2743200" cy="4023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154680" y="822960"/>
            <a:ext cx="2743200" cy="594360"/>
          </a:xfrm>
          <a:prstGeom prst="rect">
            <a:avLst/>
          </a:prstGeom>
          <a:solidFill>
            <a:srgbClr val="5E548E"/>
          </a:solidFill>
          <a:ln/>
        </p:spPr>
      </p:sp>
      <p:sp>
        <p:nvSpPr>
          <p:cNvPr id="23" name="Text 21"/>
          <p:cNvSpPr/>
          <p:nvPr/>
        </p:nvSpPr>
        <p:spPr>
          <a:xfrm>
            <a:off x="3154680" y="82296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3246120" y="14630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E54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3429000" y="1920240"/>
            <a:ext cx="2194560" cy="685800"/>
          </a:xfrm>
          <a:prstGeom prst="rect">
            <a:avLst/>
          </a:prstGeom>
          <a:solidFill>
            <a:srgbClr val="5E548E">
              <a:alpha val="12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3429000" y="19202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54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429000" y="2212848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E54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85.95%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3246120" y="27432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F1-Score: 0.86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337560" y="3172968"/>
            <a:ext cx="91440" cy="91440"/>
          </a:xfrm>
          <a:prstGeom prst="ellipse">
            <a:avLst/>
          </a:prstGeom>
          <a:solidFill>
            <a:srgbClr val="5E548E"/>
          </a:solidFill>
          <a:ln w="12700">
            <a:solidFill>
              <a:srgbClr val="5E548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83864" y="3127248"/>
            <a:ext cx="2286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 of decision trees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337560" y="3502152"/>
            <a:ext cx="91440" cy="91440"/>
          </a:xfrm>
          <a:prstGeom prst="ellipse">
            <a:avLst/>
          </a:prstGeom>
          <a:solidFill>
            <a:srgbClr val="5E548E"/>
          </a:solidFill>
          <a:ln w="12700">
            <a:solidFill>
              <a:srgbClr val="5E548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483864" y="3456432"/>
            <a:ext cx="2286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Resistant to overfitting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3337560" y="3831336"/>
            <a:ext cx="91440" cy="91440"/>
          </a:xfrm>
          <a:prstGeom prst="ellipse">
            <a:avLst/>
          </a:prstGeom>
          <a:solidFill>
            <a:srgbClr val="5E548E"/>
          </a:solidFill>
          <a:ln w="12700">
            <a:solidFill>
              <a:srgbClr val="5E548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483864" y="3785616"/>
            <a:ext cx="2286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Provides feature importance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337560" y="4160520"/>
            <a:ext cx="91440" cy="91440"/>
          </a:xfrm>
          <a:prstGeom prst="ellipse">
            <a:avLst/>
          </a:prstGeom>
          <a:solidFill>
            <a:srgbClr val="5E548E"/>
          </a:solidFill>
          <a:ln w="12700">
            <a:solidFill>
              <a:srgbClr val="5E548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483864" y="4114800"/>
            <a:ext cx="2286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Interpretable predictions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080760" y="822960"/>
            <a:ext cx="2743200" cy="4023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6080760" y="822960"/>
            <a:ext cx="2743200" cy="594360"/>
          </a:xfrm>
          <a:prstGeom prst="rect">
            <a:avLst/>
          </a:prstGeom>
          <a:solidFill>
            <a:srgbClr val="EE9B00"/>
          </a:solidFill>
          <a:ln/>
        </p:spPr>
      </p:sp>
      <p:sp>
        <p:nvSpPr>
          <p:cNvPr id="39" name="Text 37"/>
          <p:cNvSpPr/>
          <p:nvPr/>
        </p:nvSpPr>
        <p:spPr>
          <a:xfrm>
            <a:off x="6080760" y="82296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172200" y="14630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E9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Short-Term Memory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6355080" y="1920240"/>
            <a:ext cx="2194560" cy="685800"/>
          </a:xfrm>
          <a:prstGeom prst="rect">
            <a:avLst/>
          </a:prstGeom>
          <a:solidFill>
            <a:srgbClr val="EE9B00">
              <a:alpha val="12000"/>
            </a:srgbClr>
          </a:solidFill>
          <a:ln/>
        </p:spPr>
      </p:sp>
      <p:sp>
        <p:nvSpPr>
          <p:cNvPr id="42" name="Text 40"/>
          <p:cNvSpPr/>
          <p:nvPr/>
        </p:nvSpPr>
        <p:spPr>
          <a:xfrm>
            <a:off x="6355080" y="19202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E9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355080" y="2212848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E9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95.15%</a:t>
            </a:r>
            <a:endParaRPr lang="en-US" sz="2000" dirty="0"/>
          </a:p>
        </p:txBody>
      </p:sp>
      <p:sp>
        <p:nvSpPr>
          <p:cNvPr id="44" name="Text 42"/>
          <p:cNvSpPr/>
          <p:nvPr/>
        </p:nvSpPr>
        <p:spPr>
          <a:xfrm>
            <a:off x="6172200" y="27432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F1-Score: 0.95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6263640" y="3172968"/>
            <a:ext cx="91440" cy="91440"/>
          </a:xfrm>
          <a:prstGeom prst="ellipse">
            <a:avLst/>
          </a:prstGeom>
          <a:solidFill>
            <a:srgbClr val="EE9B00"/>
          </a:solidFill>
          <a:ln w="12700">
            <a:solidFill>
              <a:srgbClr val="EE9B0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09944" y="3127248"/>
            <a:ext cx="2286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 for sequences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6263640" y="3502152"/>
            <a:ext cx="91440" cy="91440"/>
          </a:xfrm>
          <a:prstGeom prst="ellipse">
            <a:avLst/>
          </a:prstGeom>
          <a:solidFill>
            <a:srgbClr val="EE9B00"/>
          </a:solidFill>
          <a:ln w="12700">
            <a:solidFill>
              <a:srgbClr val="EE9B0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9944" y="3456432"/>
            <a:ext cx="2286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 temporal patterns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6263640" y="3831336"/>
            <a:ext cx="91440" cy="91440"/>
          </a:xfrm>
          <a:prstGeom prst="ellipse">
            <a:avLst/>
          </a:prstGeom>
          <a:solidFill>
            <a:srgbClr val="EE9B00"/>
          </a:solidFill>
          <a:ln w="12700">
            <a:solidFill>
              <a:srgbClr val="EE9B0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409944" y="3785616"/>
            <a:ext cx="2286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model overall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6263640" y="4160520"/>
            <a:ext cx="91440" cy="91440"/>
          </a:xfrm>
          <a:prstGeom prst="ellipse">
            <a:avLst/>
          </a:prstGeom>
          <a:solidFill>
            <a:srgbClr val="EE9B00"/>
          </a:solidFill>
          <a:ln w="12700">
            <a:solidFill>
              <a:srgbClr val="EE9B0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409944" y="4114800"/>
            <a:ext cx="2286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Balanced across all classes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6080760" y="4572000"/>
            <a:ext cx="2743200" cy="274320"/>
          </a:xfrm>
          <a:prstGeom prst="rect">
            <a:avLst/>
          </a:prstGeom>
          <a:solidFill>
            <a:srgbClr val="EE9B00"/>
          </a:solidFill>
          <a:ln/>
        </p:spPr>
      </p:sp>
      <p:sp>
        <p:nvSpPr>
          <p:cNvPr id="54" name="Text 52"/>
          <p:cNvSpPr/>
          <p:nvPr/>
        </p:nvSpPr>
        <p:spPr>
          <a:xfrm>
            <a:off x="6080760" y="4572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⭐ BEST MODEL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914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Model Comparison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0" y="640080"/>
            <a:ext cx="9144000" cy="64008"/>
          </a:xfrm>
          <a:prstGeom prst="rect">
            <a:avLst/>
          </a:prstGeom>
          <a:solidFill>
            <a:srgbClr val="0A9396"/>
          </a:solidFill>
          <a:ln/>
        </p:spPr>
      </p:sp>
      <p:graphicFrame>
        <p:nvGraphicFramePr>
          <p:cNvPr id="5" name="Chart 0" descr=""/>
          <p:cNvGraphicFramePr/>
          <p:nvPr/>
        </p:nvGraphicFramePr>
        <p:xfrm>
          <a:off x="274320" y="822960"/>
          <a:ext cx="502920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486400" y="822960"/>
            <a:ext cx="338328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5577840" y="8686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Metrics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371600"/>
          <a:ext cx="32004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548640"/>
                <a:gridCol w="548640"/>
                <a:gridCol w="594360"/>
                <a:gridCol w="502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Model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Acc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Prec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Recall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F1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</a:rPr>
                        <a:t>SVM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</a:rPr>
                        <a:t>90.1%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</a:rPr>
                        <a:t>0.90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</a:rPr>
                        <a:t>0.90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</a:rPr>
                        <a:t>0.90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</a:rPr>
                        <a:t>Rand. Forest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</a:rPr>
                        <a:t>86.0%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</a:rPr>
                        <a:t>0.86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</a:rPr>
                        <a:t>0.86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</a:rPr>
                        <a:t>0.86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</a:rPr>
                        <a:t>LSTM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E9B00"/>
                          </a:solidFill>
                        </a:rPr>
                        <a:t>95.2%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E9B00"/>
                          </a:solidFill>
                        </a:rPr>
                        <a:t>0.95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E9B00"/>
                          </a:solidFill>
                        </a:rPr>
                        <a:t>0.95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E9B00"/>
                          </a:solidFill>
                        </a:rPr>
                        <a:t>0.95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577840" y="3200400"/>
            <a:ext cx="3200400" cy="109728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10" name="Text 6"/>
          <p:cNvSpPr/>
          <p:nvPr/>
        </p:nvSpPr>
        <p:spPr>
          <a:xfrm>
            <a:off x="5577840" y="32461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E9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Winner: LSTM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5577840" y="365760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D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95.15% Accuracy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4D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0.95 F1-Score across all classes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914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Deployment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0" y="640080"/>
            <a:ext cx="9144000" cy="64008"/>
          </a:xfrm>
          <a:prstGeom prst="rect">
            <a:avLst/>
          </a:prstGeom>
          <a:solidFill>
            <a:srgbClr val="0A9396"/>
          </a:solidFill>
          <a:ln/>
        </p:spPr>
      </p:sp>
      <p:sp>
        <p:nvSpPr>
          <p:cNvPr id="5" name="Shape 3"/>
          <p:cNvSpPr/>
          <p:nvPr/>
        </p:nvSpPr>
        <p:spPr>
          <a:xfrm>
            <a:off x="228600" y="822960"/>
            <a:ext cx="2743200" cy="1737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28600" y="822960"/>
            <a:ext cx="73152" cy="1737360"/>
          </a:xfrm>
          <a:prstGeom prst="rect">
            <a:avLst/>
          </a:prstGeom>
          <a:solidFill>
            <a:srgbClr val="0A9396"/>
          </a:solidFill>
          <a:ln/>
        </p:spPr>
      </p:sp>
      <p:sp>
        <p:nvSpPr>
          <p:cNvPr id="7" name="Text 5"/>
          <p:cNvSpPr/>
          <p:nvPr/>
        </p:nvSpPr>
        <p:spPr>
          <a:xfrm>
            <a:off x="393192" y="1005840"/>
            <a:ext cx="248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Upload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93192" y="1417320"/>
            <a:ext cx="24871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sensor data as CSV file for batch predictions with instant results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154680" y="822960"/>
            <a:ext cx="2743200" cy="1737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154680" y="822960"/>
            <a:ext cx="73152" cy="1737360"/>
          </a:xfrm>
          <a:prstGeom prst="rect">
            <a:avLst/>
          </a:prstGeom>
          <a:solidFill>
            <a:srgbClr val="0A9396"/>
          </a:solidFill>
          <a:ln/>
        </p:spPr>
      </p:sp>
      <p:sp>
        <p:nvSpPr>
          <p:cNvPr id="11" name="Text 9"/>
          <p:cNvSpPr/>
          <p:nvPr/>
        </p:nvSpPr>
        <p:spPr>
          <a:xfrm>
            <a:off x="3319272" y="1005840"/>
            <a:ext cx="248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Input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319272" y="1417320"/>
            <a:ext cx="24871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interactive sliders to manually enter feature values for single prediction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80760" y="822960"/>
            <a:ext cx="2743200" cy="1737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080760" y="822960"/>
            <a:ext cx="73152" cy="1737360"/>
          </a:xfrm>
          <a:prstGeom prst="rect">
            <a:avLst/>
          </a:prstGeom>
          <a:solidFill>
            <a:srgbClr val="0A9396"/>
          </a:solidFill>
          <a:ln/>
        </p:spPr>
      </p:sp>
      <p:sp>
        <p:nvSpPr>
          <p:cNvPr id="15" name="Text 13"/>
          <p:cNvSpPr/>
          <p:nvPr/>
        </p:nvSpPr>
        <p:spPr>
          <a:xfrm>
            <a:off x="6245352" y="1005840"/>
            <a:ext cx="248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Probability View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245352" y="1417320"/>
            <a:ext cx="24871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probability visualization showing confidence for each activity class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28600" y="2788920"/>
            <a:ext cx="2743200" cy="1737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28600" y="2788920"/>
            <a:ext cx="73152" cy="1737360"/>
          </a:xfrm>
          <a:prstGeom prst="rect">
            <a:avLst/>
          </a:prstGeom>
          <a:solidFill>
            <a:srgbClr val="0A9396"/>
          </a:solidFill>
          <a:ln/>
        </p:spPr>
      </p:sp>
      <p:sp>
        <p:nvSpPr>
          <p:cNvPr id="19" name="Text 17"/>
          <p:cNvSpPr/>
          <p:nvPr/>
        </p:nvSpPr>
        <p:spPr>
          <a:xfrm>
            <a:off x="393192" y="2971800"/>
            <a:ext cx="248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Comparison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93192" y="3383280"/>
            <a:ext cx="24871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Side-by-side performance dashboard for SVM, Random Forest and LSTM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154680" y="2788920"/>
            <a:ext cx="2743200" cy="1737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154680" y="2788920"/>
            <a:ext cx="73152" cy="1737360"/>
          </a:xfrm>
          <a:prstGeom prst="rect">
            <a:avLst/>
          </a:prstGeom>
          <a:solidFill>
            <a:srgbClr val="0A9396"/>
          </a:solidFill>
          <a:ln/>
        </p:spPr>
      </p:sp>
      <p:sp>
        <p:nvSpPr>
          <p:cNvPr id="23" name="Text 21"/>
          <p:cNvSpPr/>
          <p:nvPr/>
        </p:nvSpPr>
        <p:spPr>
          <a:xfrm>
            <a:off x="3319272" y="2971800"/>
            <a:ext cx="248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Importance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319272" y="3383280"/>
            <a:ext cx="24871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Visualize top contributing features using Random Forest importances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080760" y="2788920"/>
            <a:ext cx="2743200" cy="1737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080760" y="2788920"/>
            <a:ext cx="73152" cy="1737360"/>
          </a:xfrm>
          <a:prstGeom prst="rect">
            <a:avLst/>
          </a:prstGeom>
          <a:solidFill>
            <a:srgbClr val="0A9396"/>
          </a:solidFill>
          <a:ln/>
        </p:spPr>
      </p:sp>
      <p:sp>
        <p:nvSpPr>
          <p:cNvPr id="27" name="Text 25"/>
          <p:cNvSpPr/>
          <p:nvPr/>
        </p:nvSpPr>
        <p:spPr>
          <a:xfrm>
            <a:off x="6245352" y="2971800"/>
            <a:ext cx="248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Confusion Matrix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245352" y="3383280"/>
            <a:ext cx="24871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confusion matrix to understand per-class classification performance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228600" y="4773168"/>
            <a:ext cx="8686800" cy="274320"/>
          </a:xfrm>
          <a:prstGeom prst="rect">
            <a:avLst/>
          </a:prstGeom>
          <a:solidFill>
            <a:srgbClr val="005F73"/>
          </a:solidFill>
          <a:ln/>
        </p:spPr>
      </p:sp>
      <p:sp>
        <p:nvSpPr>
          <p:cNvPr id="30" name="Text 28"/>
          <p:cNvSpPr/>
          <p:nvPr/>
        </p:nvSpPr>
        <p:spPr>
          <a:xfrm>
            <a:off x="228600" y="477316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App: wheat-amiable-impotent.ngrok-free.dev  |  Deployed via Streamlit + ngrok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A939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7432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11480" y="896112"/>
            <a:ext cx="3657600" cy="45720"/>
          </a:xfrm>
          <a:prstGeom prst="rect">
            <a:avLst/>
          </a:prstGeom>
          <a:solidFill>
            <a:srgbClr val="EE9B00"/>
          </a:solidFill>
          <a:ln/>
        </p:spPr>
      </p:sp>
      <p:sp>
        <p:nvSpPr>
          <p:cNvPr id="5" name="Shape 3"/>
          <p:cNvSpPr/>
          <p:nvPr/>
        </p:nvSpPr>
        <p:spPr>
          <a:xfrm>
            <a:off x="411480" y="1097280"/>
            <a:ext cx="365760" cy="365760"/>
          </a:xfrm>
          <a:prstGeom prst="rect">
            <a:avLst/>
          </a:prstGeom>
          <a:solidFill>
            <a:srgbClr val="0A9396"/>
          </a:solidFill>
          <a:ln/>
        </p:spPr>
      </p:sp>
      <p:sp>
        <p:nvSpPr>
          <p:cNvPr id="6" name="Text 4"/>
          <p:cNvSpPr/>
          <p:nvPr/>
        </p:nvSpPr>
        <p:spPr>
          <a:xfrm>
            <a:off x="411480" y="10972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111556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Successfully built and deployed a HAR system classifying 6 physical activities from smartphone sensor data.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11480" y="1755648"/>
            <a:ext cx="365760" cy="365760"/>
          </a:xfrm>
          <a:prstGeom prst="rect">
            <a:avLst/>
          </a:prstGeom>
          <a:solidFill>
            <a:srgbClr val="0A9396"/>
          </a:solidFill>
          <a:ln/>
        </p:spPr>
      </p:sp>
      <p:sp>
        <p:nvSpPr>
          <p:cNvPr id="9" name="Text 7"/>
          <p:cNvSpPr/>
          <p:nvPr/>
        </p:nvSpPr>
        <p:spPr>
          <a:xfrm>
            <a:off x="411480" y="1755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68680" y="1773936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emerged as the top model with 95.15% accuracy, leveraging temporal dependencies in sensor sequences.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11480" y="2414016"/>
            <a:ext cx="365760" cy="365760"/>
          </a:xfrm>
          <a:prstGeom prst="rect">
            <a:avLst/>
          </a:prstGeom>
          <a:solidFill>
            <a:srgbClr val="0A9396"/>
          </a:solidFill>
          <a:ln/>
        </p:spPr>
      </p:sp>
      <p:sp>
        <p:nvSpPr>
          <p:cNvPr id="12" name="Text 10"/>
          <p:cNvSpPr/>
          <p:nvPr/>
        </p:nvSpPr>
        <p:spPr>
          <a:xfrm>
            <a:off x="411480" y="24140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68680" y="2432304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SVM and Random Forest provide strong baselines at 90.06% and 85.95% respectively, with better interpretability.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11480" y="3072384"/>
            <a:ext cx="365760" cy="365760"/>
          </a:xfrm>
          <a:prstGeom prst="rect">
            <a:avLst/>
          </a:prstGeom>
          <a:solidFill>
            <a:srgbClr val="0A9396"/>
          </a:solidFill>
          <a:ln/>
        </p:spPr>
      </p:sp>
      <p:sp>
        <p:nvSpPr>
          <p:cNvPr id="15" name="Text 13"/>
          <p:cNvSpPr/>
          <p:nvPr/>
        </p:nvSpPr>
        <p:spPr>
          <a:xfrm>
            <a:off x="411480" y="30723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68680" y="3090672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app enables real-time predictions with CSV upload, manual input, and full model explainability.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11480" y="3730752"/>
            <a:ext cx="365760" cy="365760"/>
          </a:xfrm>
          <a:prstGeom prst="rect">
            <a:avLst/>
          </a:prstGeom>
          <a:solidFill>
            <a:srgbClr val="0A9396"/>
          </a:solidFill>
          <a:ln/>
        </p:spPr>
      </p:sp>
      <p:sp>
        <p:nvSpPr>
          <p:cNvPr id="18" name="Text 16"/>
          <p:cNvSpPr/>
          <p:nvPr/>
        </p:nvSpPr>
        <p:spPr>
          <a:xfrm>
            <a:off x="411480" y="3730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68680" y="3749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follows the complete ML lifecycle: preprocessing → EDA → feature engineering → modeling → deployment.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11480" y="4389120"/>
            <a:ext cx="8412480" cy="502920"/>
          </a:xfrm>
          <a:prstGeom prst="rect">
            <a:avLst/>
          </a:prstGeom>
          <a:solidFill>
            <a:srgbClr val="005F73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" y="4416552"/>
            <a:ext cx="8321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4D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Scope: </a:t>
            </a:r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mobile deployment  |  More activity classes  |  Transfer learning  |  Edge AI on-device inference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Human Activity Recognition from Smartphone Sensors</dc:title>
  <dc:subject>PptxGenJS Presentation</dc:subject>
  <dc:creator>PptxGenJS</dc:creator>
  <cp:lastModifiedBy>PptxGenJS</cp:lastModifiedBy>
  <cp:revision>1</cp:revision>
  <dcterms:created xsi:type="dcterms:W3CDTF">2026-05-05T19:14:05Z</dcterms:created>
  <dcterms:modified xsi:type="dcterms:W3CDTF">2026-05-05T19:14:05Z</dcterms:modified>
</cp:coreProperties>
</file>